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1" r:id="rId9"/>
    <p:sldId id="270" r:id="rId10"/>
    <p:sldId id="262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pos="2479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1162">
          <p15:clr>
            <a:srgbClr val="A4A3A4"/>
          </p15:clr>
        </p15:guide>
        <p15:guide id="5" orient="horz" pos="1366">
          <p15:clr>
            <a:srgbClr val="A4A3A4"/>
          </p15:clr>
        </p15:guide>
        <p15:guide id="6" pos="5518">
          <p15:clr>
            <a:srgbClr val="A4A3A4"/>
          </p15:clr>
        </p15:guide>
        <p15:guide id="7" orient="horz" pos="2341">
          <p15:clr>
            <a:srgbClr val="A4A3A4"/>
          </p15:clr>
        </p15:guide>
        <p15:guide id="8" orient="horz" pos="2591">
          <p15:clr>
            <a:srgbClr val="A4A3A4"/>
          </p15:clr>
        </p15:guide>
        <p15:guide id="9" orient="horz" pos="2523">
          <p15:clr>
            <a:srgbClr val="A4A3A4"/>
          </p15:clr>
        </p15:guide>
        <p15:guide id="10" pos="6698">
          <p15:clr>
            <a:srgbClr val="A4A3A4"/>
          </p15:clr>
        </p15:guide>
        <p15:guide id="11" orient="horz" pos="1117">
          <p15:clr>
            <a:srgbClr val="A4A3A4"/>
          </p15:clr>
        </p15:guide>
        <p15:guide id="12" orient="horz" pos="436">
          <p15:clr>
            <a:srgbClr val="A4A3A4"/>
          </p15:clr>
        </p15:guide>
        <p15:guide id="13" pos="5450">
          <p15:clr>
            <a:srgbClr val="A4A3A4"/>
          </p15:clr>
        </p15:guide>
        <p15:guide id="14" orient="horz" pos="1253">
          <p15:clr>
            <a:srgbClr val="A4A3A4"/>
          </p15:clr>
        </p15:guide>
        <p15:guide id="15" pos="6176">
          <p15:clr>
            <a:srgbClr val="A4A3A4"/>
          </p15:clr>
        </p15:guide>
        <p15:guide id="16" pos="1527">
          <p15:clr>
            <a:srgbClr val="A4A3A4"/>
          </p15:clr>
        </p15:guide>
        <p15:guide id="17" pos="3092">
          <p15:clr>
            <a:srgbClr val="A4A3A4"/>
          </p15:clr>
        </p15:guide>
        <p15:guide id="18" pos="5382">
          <p15:clr>
            <a:srgbClr val="A4A3A4"/>
          </p15:clr>
        </p15:guide>
        <p15:guide id="19" pos="960">
          <p15:clr>
            <a:srgbClr val="A4A3A4"/>
          </p15:clr>
        </p15:guide>
        <p15:guide id="20" pos="2434">
          <p15:clr>
            <a:srgbClr val="A4A3A4"/>
          </p15:clr>
        </p15:guide>
        <p15:guide id="21" orient="horz" pos="2047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Кай Цуй" userId="05fd42c340f56690" providerId="LiveId" clId="{718399AB-00EC-4E66-923B-204114202D5C}"/>
    <pc:docChg chg="delSld">
      <pc:chgData name="Кай Цуй" userId="05fd42c340f56690" providerId="LiveId" clId="{718399AB-00EC-4E66-923B-204114202D5C}" dt="2026-06-28T20:23:20.161" v="2" actId="2696"/>
      <pc:docMkLst>
        <pc:docMk/>
      </pc:docMkLst>
      <pc:sldChg chg="del">
        <pc:chgData name="Кай Цуй" userId="05fd42c340f56690" providerId="LiveId" clId="{718399AB-00EC-4E66-923B-204114202D5C}" dt="2026-06-28T20:23:15.327" v="0" actId="2696"/>
        <pc:sldMkLst>
          <pc:docMk/>
          <pc:sldMk cId="0" sldId="263"/>
        </pc:sldMkLst>
      </pc:sldChg>
      <pc:sldChg chg="del">
        <pc:chgData name="Кай Цуй" userId="05fd42c340f56690" providerId="LiveId" clId="{718399AB-00EC-4E66-923B-204114202D5C}" dt="2026-06-28T20:23:18.131" v="1" actId="2696"/>
        <pc:sldMkLst>
          <pc:docMk/>
          <pc:sldMk cId="0" sldId="264"/>
        </pc:sldMkLst>
      </pc:sldChg>
      <pc:sldChg chg="del">
        <pc:chgData name="Кай Цуй" userId="05fd42c340f56690" providerId="LiveId" clId="{718399AB-00EC-4E66-923B-204114202D5C}" dt="2026-06-28T20:23:20.161" v="2" actId="2696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9270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10808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28.06.2026</a:t>
            </a:fld>
            <a:endParaRPr lang="ru-RU"/>
          </a:p>
        </p:txBody>
      </p:sp>
      <p:sp>
        <p:nvSpPr>
          <p:cNvPr id="49581720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247829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8361647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8713236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F89786-005E-3184-630A-B331B9AABEA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AB87F5-1EC5-9A5A-FDC7-9466D3C664B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4E3A6-B0CE-63EC-6C19-FD94AB7F579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0A9EAF-B167-2AFB-CA41-E6847D37E3C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03598-7D48-0460-1301-304B5FDDB8D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6B2C63-B02F-E69A-BF4F-6D31CA98CC36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B9FB8-7E54-CB07-3396-BFEFEE4DEF18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2CC23-E37A-407C-4F41-2E0CA5DA258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407523353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407523353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28411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5053687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03049342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3192748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1386906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13869060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3464710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556057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12036529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1910459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0434091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1077588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02253658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7673487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47067670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83238374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68100305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25598570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61618848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99884850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12956091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87461377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0072642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4967031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706614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906550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71156219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27410212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71627924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6297836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2482947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65587755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3817439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65744483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515242143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2141894268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671206707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343393096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79748838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132416181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1037943813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970418947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103303505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134252126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1946623920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60506697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585820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251411285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75734779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93643945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880437131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2818400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928184004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22073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4531692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2165610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32194511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358099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6327370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144197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6414632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9656723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29744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6892556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32517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50706165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78429021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13221116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1055878036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055878036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21343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9937842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041929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6243822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66392514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886647565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929082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875199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5527050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552705058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751324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9333996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34394578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9208884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8585051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6461909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2383050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77431384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66717939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712771556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15679728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2076623595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79638729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379638729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74876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5596340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06079396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4613915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59066594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688539809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936079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6997474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569974742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38336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26904711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12623925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203493855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84294823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756315274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6874441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298861975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749961764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120234974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202349747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177071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795655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4772116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8703737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38596404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2348296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229208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97983719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03656158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103656158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498664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53445238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886786682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14959457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3479581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45078169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236409139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586814896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15712577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038088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513008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094032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420168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1258014022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51028612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58539438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85394382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74791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54947938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5433177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815443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42528450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926022178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419158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84253346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2690266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054672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2059399461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41767449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84391499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843914997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301224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0425480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35151280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95383652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819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825487733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7735017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590589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74246907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1267090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2038224275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2104739048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16483199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164831995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38555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88850206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139254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20277060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9923213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66416714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07112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01273187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3693691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5300321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117963410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195498588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09852114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521145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93828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2505401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01196567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43635951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45786088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685576983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246355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1068230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5937841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8081300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2081197182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1741305378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361664302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1664302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05647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6212421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3680255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3380989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85310178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1509075707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29942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687051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2526784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4072555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42718854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414699372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1560763774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560763774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075781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75216868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1873816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31894759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0139477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56548813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0607651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5098856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82292681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346359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536356273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05866483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366153865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366153865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595126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81915496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6226680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69482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30514555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50417218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9475367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7189323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8945772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37002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2019377264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1493068775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1098009717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4" imgW="0" imgH="0" progId="TCLayout.ActiveDocument.1">
                  <p:embed/>
                </p:oleObj>
              </mc:Choice>
              <mc:Fallback>
                <p:oleObj name="oleObj" r:id="rId4" imgW="0" imgH="0" progId="TCLayout.ActiveDocument.1">
                  <p:embed/>
                  <p:pic>
                    <p:nvPicPr>
                      <p:cNvPr id="1098009717" name="Object 8"/>
                      <p:cNvPicPr/>
                      <p:nvPr/>
                    </p:nvPicPr>
                    <p:blipFill rotWithShape="1">
                      <a:blip r:embed="rId5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97166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59637972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826387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96301300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7124711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98695378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6619838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9676266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4995054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27189630" name="Object 8"/>
          <p:cNvGraphicFramePr>
            <a:graphicFrameLocks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827189630" name="Object 8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959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591719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6641575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93176408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286970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155754570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611540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0198467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1064877062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275375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1786621264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1355616749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012445619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2148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15072491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4492413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5757500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8087687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72394321" name="Объект 6"/>
          <p:cNvGraphicFramePr>
            <a:graphicFrameLocks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2" imgW="0" imgH="0" progId="TCLayout.ActiveDocument.1">
                  <p:embed/>
                </p:oleObj>
              </mc:Choice>
              <mc:Fallback>
                <p:oleObj name="oleObj" r:id="rId22" imgW="0" imgH="0" progId="TCLayout.ActiveDocument.1">
                  <p:embed/>
                  <p:pic>
                    <p:nvPicPr>
                      <p:cNvPr id="472394321" name="Объект 6"/>
                      <p:cNvPicPr/>
                      <p:nvPr/>
                    </p:nvPicPr>
                    <p:blipFill rotWithShape="1">
                      <a:blip r:embed="rId23"/>
                      <a:stretch/>
                    </p:blipFill>
                    <p:spPr bwMode="auto"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532996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  <p:grpSp>
        <p:nvGrpSpPr>
          <p:cNvPr id="1728880389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548478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12336669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30948692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34202481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1276364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944293768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9875912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46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33807" name="Заголовок 7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br>
              <a:rPr lang="ru-RU" dirty="0"/>
            </a:br>
            <a:r>
              <a:rPr lang="ru-RU" dirty="0"/>
              <a:t>Платформа для создания резюме и поиска вакансий</a:t>
            </a:r>
            <a:endParaRPr dirty="0"/>
          </a:p>
        </p:txBody>
      </p:sp>
      <p:sp>
        <p:nvSpPr>
          <p:cNvPr id="1362476454" name="Текст 8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ДПП ПП «Фронтенд и бэкенд разработка»</a:t>
            </a:r>
            <a:endParaRPr dirty="0"/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dirty="0"/>
              <a:t>Выполнил: студент группы ДОП-ФиБР-25</a:t>
            </a:r>
            <a:endParaRPr dirty="0"/>
          </a:p>
          <a:p>
            <a:pPr>
              <a:defRPr/>
            </a:pPr>
            <a:r>
              <a:rPr lang="ru-RU" dirty="0" err="1"/>
              <a:t>Перетейко</a:t>
            </a:r>
            <a:r>
              <a:rPr lang="ru-RU" dirty="0"/>
              <a:t> Алёна Владиславовна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59394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Цель и задачи работы</a:t>
            </a:r>
            <a:endParaRPr dirty="0"/>
          </a:p>
        </p:txBody>
      </p:sp>
      <p:sp>
        <p:nvSpPr>
          <p:cNvPr id="1061407742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Платформа для создания резюме и поиска вакансий</a:t>
            </a:r>
            <a:endParaRPr dirty="0"/>
          </a:p>
        </p:txBody>
      </p:sp>
      <p:sp>
        <p:nvSpPr>
          <p:cNvPr id="1970990418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Целью работы является разработка полнофункционального веб-приложения для автоматизации процессов поиска вакансий и кандидатов.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выполнения поставленной цели будут решены следующие задачи: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Проведение анализа конкурентных решений и выявление их слабых мест.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проблем целевой аудитории и формирование требований к продукту.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архитектуры и реализация бэкенда на Node.js и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MongoDB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Создание адаптивного фронтенда на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React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 использованием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Bootstrap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5.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Реализация ролевой модели доступа, системы умного поиска и генерации PDF-документов.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Тестирование работоспособности приложения и подготовка демонстрационных материалов.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791380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Анализ конкурентов</a:t>
            </a:r>
            <a:endParaRPr/>
          </a:p>
        </p:txBody>
      </p:sp>
      <p:sp>
        <p:nvSpPr>
          <p:cNvPr id="90621201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Актуальность исследования </a:t>
            </a:r>
            <a:br>
              <a:rPr lang="ru-RU"/>
            </a:br>
            <a:r>
              <a:rPr lang="ru-RU"/>
              <a:t>и анализ конкурентных решений</a:t>
            </a:r>
            <a:endParaRPr/>
          </a:p>
        </p:txBody>
      </p:sp>
      <p:sp>
        <p:nvSpPr>
          <p:cNvPr id="1924470106" name="Текст 23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1124169"/>
            <a:ext cx="4885173" cy="5040000"/>
          </a:xfrm>
        </p:spPr>
        <p:txBody>
          <a:bodyPr/>
          <a:lstStyle/>
          <a:p>
            <a:pPr indent="450215" algn="just">
              <a:lnSpc>
                <a:spcPct val="150000"/>
              </a:lnSpc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Прямым конкурентом разрабатываемого продукта является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HeadHunter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(hh.ru). Это лидер рынка с базой более 180 тыс. вакансий в Москве.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Сильные стороны: Глубокая аналитика зарплат, 20+ параметров фильтрации, высокая узнаваемость бренда.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Слабые стороны: Обязательное заполнение полного резюме перед откликом, сложный интерфейс для новичков, низкая производительность (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Lighthouse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Performance: 55/100), долгая загрузка на мобильных сетях.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Вывод: HH задает стандарт функциональности, но проигрывает в скорости и простоте входа для новых пользователей.</a:t>
            </a:r>
          </a:p>
          <a:p>
            <a:pPr>
              <a:defRPr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9D4778-AE34-F41F-4347-97268A3D9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946" y="1371282"/>
            <a:ext cx="6284054" cy="43805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22">
            <a:extLst>
              <a:ext uri="{FF2B5EF4-FFF2-40B4-BE49-F238E27FC236}">
                <a16:creationId xmlns:a16="http://schemas.microsoft.com/office/drawing/2014/main" id="{155DCB45-CB3B-E782-7206-1812025576F5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215444"/>
          </a:xfrm>
        </p:spPr>
        <p:txBody>
          <a:bodyPr/>
          <a:lstStyle/>
          <a:p>
            <a:pPr>
              <a:defRPr/>
            </a:pPr>
            <a:r>
              <a:rPr lang="ru-RU"/>
              <a:t>Анализ конкурентов</a:t>
            </a:r>
            <a:endParaRPr/>
          </a:p>
        </p:txBody>
      </p:sp>
      <p:sp>
        <p:nvSpPr>
          <p:cNvPr id="10" name="Заголовок 21">
            <a:extLst>
              <a:ext uri="{FF2B5EF4-FFF2-40B4-BE49-F238E27FC236}">
                <a16:creationId xmlns:a16="http://schemas.microsoft.com/office/drawing/2014/main" id="{CDF66294-8911-7744-0DBD-AA99EC76685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36000" y="69549"/>
            <a:ext cx="10130208" cy="738664"/>
          </a:xfrm>
        </p:spPr>
        <p:txBody>
          <a:bodyPr/>
          <a:lstStyle/>
          <a:p>
            <a:pPr>
              <a:defRPr/>
            </a:pPr>
            <a:r>
              <a:rPr lang="ru-RU" dirty="0"/>
              <a:t>Актуальность исследования </a:t>
            </a:r>
            <a:br>
              <a:rPr lang="ru-RU" dirty="0"/>
            </a:br>
            <a:r>
              <a:rPr lang="ru-RU" dirty="0"/>
              <a:t>и анализ конкурентных решений</a:t>
            </a:r>
            <a:endParaRPr dirty="0"/>
          </a:p>
        </p:txBody>
      </p:sp>
      <p:sp>
        <p:nvSpPr>
          <p:cNvPr id="11" name="Текст 23">
            <a:extLst>
              <a:ext uri="{FF2B5EF4-FFF2-40B4-BE49-F238E27FC236}">
                <a16:creationId xmlns:a16="http://schemas.microsoft.com/office/drawing/2014/main" id="{A23FA39A-3187-E6CB-C0E8-716095CAD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336000" y="1124169"/>
            <a:ext cx="4885173" cy="5040000"/>
          </a:xfrm>
        </p:spPr>
        <p:txBody>
          <a:bodyPr/>
          <a:lstStyle/>
          <a:p>
            <a:pPr indent="450215" algn="just">
              <a:lnSpc>
                <a:spcPct val="150000"/>
              </a:lnSpc>
              <a:spcBef>
                <a:spcPts val="120"/>
              </a:spcBef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 рассмотрении существующих решений отмечен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SuperJob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Платформа ориентирована на офисных сотрудников и массовый подбор.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Сильные стороны: Простая навигация, 75% вакансий с указанной зарплатой, хорошая скорость загрузки (Performance: 82/100).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Слабые стороны: Меньшая база резюме, отсутствие современных UX-паттернов (например, бесшовного экспорта документов), ограниченный функционал для работодателей малого бизнеса.</a:t>
            </a:r>
          </a:p>
          <a:p>
            <a:pPr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Вывод: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SuperJob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демонстрирует, что скорость важна для удержания пользователей, но его функционал устарел морально.</a:t>
            </a:r>
            <a:endParaRPr lang="ru-RU" sz="18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8247D99-BC07-D09A-8682-97708F391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637" y="1224681"/>
            <a:ext cx="6111363" cy="46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62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2">
            <a:extLst>
              <a:ext uri="{FF2B5EF4-FFF2-40B4-BE49-F238E27FC236}">
                <a16:creationId xmlns:a16="http://schemas.microsoft.com/office/drawing/2014/main" id="{68EEEC81-BB20-89E6-42BC-22227A851CC2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215444"/>
          </a:xfrm>
        </p:spPr>
        <p:txBody>
          <a:bodyPr/>
          <a:lstStyle/>
          <a:p>
            <a:pPr>
              <a:defRPr/>
            </a:pPr>
            <a:r>
              <a:rPr lang="ru-RU"/>
              <a:t>Анализ конкурентов</a:t>
            </a:r>
            <a:endParaRPr/>
          </a:p>
        </p:txBody>
      </p:sp>
      <p:sp>
        <p:nvSpPr>
          <p:cNvPr id="6" name="Заголовок 21">
            <a:extLst>
              <a:ext uri="{FF2B5EF4-FFF2-40B4-BE49-F238E27FC236}">
                <a16:creationId xmlns:a16="http://schemas.microsoft.com/office/drawing/2014/main" id="{EEC82EEF-184C-53A3-8DA5-90C50D81D1F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36000" y="69549"/>
            <a:ext cx="10130208" cy="738664"/>
          </a:xfrm>
        </p:spPr>
        <p:txBody>
          <a:bodyPr/>
          <a:lstStyle/>
          <a:p>
            <a:pPr>
              <a:defRPr/>
            </a:pPr>
            <a:r>
              <a:rPr lang="ru-RU" dirty="0"/>
              <a:t>Актуальность исследования </a:t>
            </a:r>
            <a:br>
              <a:rPr lang="ru-RU" dirty="0"/>
            </a:br>
            <a:r>
              <a:rPr lang="ru-RU" dirty="0"/>
              <a:t>и анализ конкурентных решений</a:t>
            </a:r>
            <a:endParaRPr dirty="0"/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FAFA3061-9DB2-6220-5243-A34B92E47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336000" y="1124169"/>
            <a:ext cx="4885173" cy="5040000"/>
          </a:xfrm>
        </p:spPr>
        <p:txBody>
          <a:bodyPr/>
          <a:lstStyle/>
          <a:p>
            <a:pPr indent="450215" algn="just">
              <a:lnSpc>
                <a:spcPct val="150000"/>
              </a:lnSpc>
              <a:spcBef>
                <a:spcPts val="120"/>
              </a:spcBef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Третьим конкурентом является раздел «Работа» на платформе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Авито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Сильные стороны: Аудитория &gt;50 млн, отклик без резюме, прямой контакт с работодателем.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Слабые стороны: Критически низкая производительность (Performance: 13/100), много спама, отсутствие специализированных HR-инструментов, недоверие соискателей к качеству вакансий.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Вывод: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Авито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выигрывает за счет трафика, но проигрывает в качестве сервиса и технической реализации.</a:t>
            </a:r>
          </a:p>
          <a:p>
            <a:pPr indent="450215" algn="just">
              <a:lnSpc>
                <a:spcPct val="150000"/>
              </a:lnSpc>
              <a:spcBef>
                <a:spcPts val="120"/>
              </a:spcBef>
              <a:buNone/>
            </a:pPr>
            <a:endParaRPr lang="ru-RU" sz="1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F3A836-F6B0-F266-3C5B-2BEB0695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392" y="1224681"/>
            <a:ext cx="6133608" cy="45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16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7984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Требования к веб-приложению</a:t>
            </a:r>
          </a:p>
        </p:txBody>
      </p:sp>
      <p:sp>
        <p:nvSpPr>
          <p:cNvPr id="211905434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Требования к веб-приложению</a:t>
            </a:r>
            <a:br>
              <a:rPr lang="ru-RU"/>
            </a:br>
            <a:r>
              <a:rPr lang="ru-RU"/>
              <a:t>и его характеристика</a:t>
            </a:r>
            <a:endParaRPr/>
          </a:p>
        </p:txBody>
      </p:sp>
      <p:sp>
        <p:nvSpPr>
          <p:cNvPr id="1669878407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Требования к приложению сформированы на основе выявленных проблем ЦА и анализа конкурентов. Общие требования: удобство использования, производительность (&gt;90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Lighthouse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), интуитивность. Важные аспекты: функциональность (ролевая модель, фильтры, PDF), надежность (JWT,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bcrypt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), безопасность (RBAC), масштабируемость (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MongoDB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Atlas).</a:t>
            </a:r>
          </a:p>
          <a:p>
            <a:pPr indent="450215" algn="just">
              <a:lnSpc>
                <a:spcPct val="150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Основным объектом предметной области является веб-приложение «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JobLink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 для взаимодействия соискателей и работодателей. Сфера применения – онлайн-рекрутмент и карьерное развитие. Назначение – предоставление единой точки доступа для поиска работы и кандидатов с минимальными временными затратами.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Основной функционал заключается в следующем: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Ролевая модель доступа (соискатель / работодатель) с динамической адаптацией интерфейса;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Расширенная система поиска с контекстными фильтрами (для вакансий: зарплата, опыт, график; для резюме: навыки, город, возраст);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Возможность создания и редактирования резюме с настройкой приватности («Открыт к предложениям»);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Автоматическая генерация и скачивание резюме в формате PDF без использования системной печати;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Детальный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просмотр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вакансий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во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всплывающем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окне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(Modal)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без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перезагрузки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страницы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Обработка ошибок и пользовательских сценариев через кастомную страницу 404.</a:t>
            </a:r>
          </a:p>
          <a:p>
            <a:pPr indent="450215" algn="just">
              <a:lnSpc>
                <a:spcPct val="150000"/>
              </a:lnSpc>
              <a:buNone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50000"/>
              </a:lnSpc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defRPr/>
            </a:pPr>
            <a:endParaRPr lang="ru-RU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16903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Используемый стек</a:t>
            </a:r>
            <a:endParaRPr/>
          </a:p>
        </p:txBody>
      </p:sp>
      <p:sp>
        <p:nvSpPr>
          <p:cNvPr id="813370003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Используемый для реализации проекта</a:t>
            </a:r>
            <a:br>
              <a:rPr lang="ru-RU"/>
            </a:br>
            <a:r>
              <a:rPr lang="ru-RU"/>
              <a:t>технологический стек</a:t>
            </a:r>
            <a:endParaRPr/>
          </a:p>
        </p:txBody>
      </p:sp>
      <p:sp>
        <p:nvSpPr>
          <p:cNvPr id="1328163733" name="Текст 2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Выбран стек MERN для обеспечения надежности и масштабируемости. Для настоящей работы в качестве программных средств использованы: среда разработки Visual Studio Code, система контроля версий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Git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реализации фронтенда выбрана библиотека </a:t>
            </a:r>
            <a:r>
              <a:rPr lang="ru-RU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React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(v18) в связке со сборщиком </a:t>
            </a:r>
            <a:r>
              <a:rPr lang="ru-RU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Vite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Это обеспечивает высокую скорость разработки и отличную производительность итогового приложения. Для стилизации используется фреймворк </a:t>
            </a:r>
            <a:r>
              <a:rPr lang="ru-RU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Bootstrap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5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который позволяет создать адаптивный, чистый интерфейс. Для генерации PDF-документов на клиенте применяется библиотека html2pdf.js.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реализации бэкенда выбран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runtime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Node.js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фреймворк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Express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В качестве СУБД используется облачная база данных </a:t>
            </a:r>
            <a:r>
              <a:rPr lang="ru-RU" sz="2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MongoDB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Atlas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что обеспечивает гибкость схемы данных. Аутентификация реализована посредством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JWT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а хеширование паролей выполняется с помощью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bcryptjs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579575" name="Подзаголовок 2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endParaRPr/>
          </a:p>
        </p:txBody>
      </p:sp>
      <p:sp>
        <p:nvSpPr>
          <p:cNvPr id="2047250096" name="Заголовок 2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br>
              <a:rPr lang="ru-RU"/>
            </a:br>
            <a:r>
              <a:rPr lang="ru-RU"/>
              <a:t>и ссылка на готовое решение</a:t>
            </a:r>
            <a:endParaRPr/>
          </a:p>
        </p:txBody>
      </p:sp>
      <p:sp>
        <p:nvSpPr>
          <p:cNvPr id="200993098" name="Текст 23"/>
          <p:cNvSpPr>
            <a:spLocks noGrp="1"/>
          </p:cNvSpPr>
          <p:nvPr>
            <p:ph type="body" sz="quarter" idx="13"/>
          </p:nvPr>
        </p:nvSpPr>
        <p:spPr bwMode="auto">
          <a:xfrm>
            <a:off x="335512" y="1455537"/>
            <a:ext cx="11520488" cy="5040000"/>
          </a:xfrm>
        </p:spPr>
        <p:txBody>
          <a:bodyPr/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реализации фронтенда были использованы языки программирования JavaScript (ES6+) и JSX, а также HTML5 и CSS3.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Архитектура приложения построена на компонентном подходе. Ключевые разработанные компоненты: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Navbar.jsx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адаптивная навигационная панель с условным рендерингом элементов в зависимости от роли пользователя.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Home.jsx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главная страница с интегрированным поисковым блоком, активными тегами категорий/компаний и выезжающей панелью расширенных фильтров (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Offcanvas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Resume.jsx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форма управления резюме с функцией клиентской генерации PDF через html2pdf.js, исключающей появление системного окна печати.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Vacancies.jsx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список вакансий с кастомным модальным окном детального просмотра, реализованным через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React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State для мгновенного отклика интерфейса.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NotFound.jsx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кастомная страница ошибки 404 с юмористическим контентом и пингвинами, улучшающая UX при переходе по битым ссылкам.</a:t>
            </a:r>
          </a:p>
          <a:p>
            <a:pPr indent="450215" algn="just">
              <a:lnSpc>
                <a:spcPct val="150000"/>
              </a:lnSpc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Особое внимание уделено адаптивности: интерфейс корректно отображается на десктопах, планшетах и мобильных устройствах благодаря сетке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Bootstrap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медиа-запросам.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defRPr/>
            </a:pP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22">
            <a:extLst>
              <a:ext uri="{FF2B5EF4-FFF2-40B4-BE49-F238E27FC236}">
                <a16:creationId xmlns:a16="http://schemas.microsoft.com/office/drawing/2014/main" id="{4FB315E6-000D-C992-75ED-B3FF4ED4990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36000" y="908725"/>
            <a:ext cx="10130208" cy="215444"/>
          </a:xfrm>
        </p:spPr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endParaRPr/>
          </a:p>
        </p:txBody>
      </p:sp>
      <p:sp>
        <p:nvSpPr>
          <p:cNvPr id="6" name="Заголовок 21">
            <a:extLst>
              <a:ext uri="{FF2B5EF4-FFF2-40B4-BE49-F238E27FC236}">
                <a16:creationId xmlns:a16="http://schemas.microsoft.com/office/drawing/2014/main" id="{5E32C419-B39F-673A-84C8-67CEAFC511B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36000" y="69549"/>
            <a:ext cx="10130208" cy="738664"/>
          </a:xfrm>
        </p:spPr>
        <p:txBody>
          <a:bodyPr/>
          <a:lstStyle/>
          <a:p>
            <a:pPr>
              <a:defRPr/>
            </a:pPr>
            <a:r>
              <a:rPr lang="ru-RU"/>
              <a:t>Результаты разработки</a:t>
            </a:r>
            <a:br>
              <a:rPr lang="ru-RU"/>
            </a:br>
            <a:r>
              <a:rPr lang="ru-RU"/>
              <a:t>и ссылка на готовое решение</a:t>
            </a:r>
            <a:endParaRPr/>
          </a:p>
        </p:txBody>
      </p:sp>
      <p:sp>
        <p:nvSpPr>
          <p:cNvPr id="7" name="Текст 23">
            <a:extLst>
              <a:ext uri="{FF2B5EF4-FFF2-40B4-BE49-F238E27FC236}">
                <a16:creationId xmlns:a16="http://schemas.microsoft.com/office/drawing/2014/main" id="{3AC0ABDE-B3F3-7852-5B9E-4D2D62480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335512" y="1455537"/>
            <a:ext cx="11520488" cy="5040000"/>
          </a:xfrm>
        </p:spPr>
        <p:txBody>
          <a:bodyPr/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реализации бэкенда были использованы: Node.js, Express,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Mongoose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JWT,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Bcryptjs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Разработаны следующие API-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эндпоинты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register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login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— регистрация и авторизация с выдачей JWT-токена.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resume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(GET/POST) — получение и сохранение резюме текущего пользователя.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resumes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search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— поиск резюме по ключевым словам с учетом флага видимости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isVisible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api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vacancies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(GET/POST/PUT/DELETE) — CRUD-операции над вакансиями с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middleware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-проверкой роли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employer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прав владельца записи.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Все чувствительные данные (пароли)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хешируются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перед сохранением. Секретный ключ JWT вынесен в конфигурацию.</a:t>
            </a:r>
          </a:p>
          <a:p>
            <a:pPr indent="450215" algn="just">
              <a:lnSpc>
                <a:spcPct val="150000"/>
              </a:lnSpc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85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757756" name="Подзаголовок 5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Адаптивный дизайн и система умного поиска</a:t>
            </a:r>
          </a:p>
        </p:txBody>
      </p:sp>
      <p:sp>
        <p:nvSpPr>
          <p:cNvPr id="1220727833" name="Заголовок 51"/>
          <p:cNvSpPr>
            <a:spLocks noGrp="1"/>
          </p:cNvSpPr>
          <p:nvPr>
            <p:ph type="title"/>
          </p:nvPr>
        </p:nvSpPr>
        <p:spPr bwMode="auto">
          <a:xfrm>
            <a:off x="347661" y="393555"/>
            <a:ext cx="10398685" cy="369332"/>
          </a:xfrm>
        </p:spPr>
        <p:txBody>
          <a:bodyPr/>
          <a:lstStyle/>
          <a:p>
            <a:pPr>
              <a:defRPr/>
            </a:pPr>
            <a:r>
              <a:rPr lang="ru-RU" dirty="0"/>
              <a:t>Интерфейс платформы </a:t>
            </a:r>
            <a:r>
              <a:rPr lang="ru-RU" dirty="0" err="1"/>
              <a:t>JobLink</a:t>
            </a:r>
            <a:endParaRPr lang="ru-RU" dirty="0"/>
          </a:p>
        </p:txBody>
      </p:sp>
      <p:sp>
        <p:nvSpPr>
          <p:cNvPr id="451565822" name="Текст 53"/>
          <p:cNvSpPr>
            <a:spLocks noGrp="1"/>
          </p:cNvSpPr>
          <p:nvPr>
            <p:ph type="body" sz="quarter" idx="13"/>
          </p:nvPr>
        </p:nvSpPr>
        <p:spPr bwMode="auto">
          <a:xfrm>
            <a:off x="347661" y="1415846"/>
            <a:ext cx="3103462" cy="4910342"/>
          </a:xfrm>
        </p:spPr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Реализован адаптивный интерфейс на базе </a:t>
            </a: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Bootstrap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5.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Внедрена система контекстных фильтров для вакансий и резюме.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Обеспечена </a:t>
            </a: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кроссбраузерная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совместимость и высокая производительность (</a:t>
            </a:r>
            <a:r>
              <a:rPr lang="ru-RU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Lighthouse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&gt; 90).</a:t>
            </a:r>
          </a:p>
          <a:p>
            <a:pPr>
              <a:defRPr/>
            </a:pPr>
            <a:endParaRPr lang="ru-RU" sz="11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06893E-9B1C-65BA-4670-651342064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723" y="1963940"/>
            <a:ext cx="6990424" cy="38703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  <a:effectLst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1050</Words>
  <Application>Microsoft Office PowerPoint</Application>
  <PresentationFormat>Широкоэкранный</PresentationFormat>
  <Paragraphs>82</Paragraphs>
  <Slides>11</Slides>
  <Notes>8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Wingdings</vt:lpstr>
      <vt:lpstr>Symbol</vt:lpstr>
      <vt:lpstr>Arial</vt:lpstr>
      <vt:lpstr>Times New Roman</vt:lpstr>
      <vt:lpstr>1_Theme1</vt:lpstr>
      <vt:lpstr>oleObj</vt:lpstr>
      <vt:lpstr> Платформа для создания резюме и поиска вакансий</vt:lpstr>
      <vt:lpstr>Платформа для создания резюме и поиска вакансий</vt:lpstr>
      <vt:lpstr>Актуальность исследования  и анализ конкурентных решений</vt:lpstr>
      <vt:lpstr>Актуальность исследования  и анализ конкурентных решений</vt:lpstr>
      <vt:lpstr>Актуальность исследования  и анализ конкурентных решений</vt:lpstr>
      <vt:lpstr>Требования к веб-приложению и его характеристика</vt:lpstr>
      <vt:lpstr>Используемый для реализации проекта технологический стек</vt:lpstr>
      <vt:lpstr>Результаты разработки и ссылка на готовое решение</vt:lpstr>
      <vt:lpstr>Результаты разработки и ссылка на готовое решение</vt:lpstr>
      <vt:lpstr>Интерфейс платформы JobLink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Кай Цуй</cp:lastModifiedBy>
  <cp:revision>922</cp:revision>
  <dcterms:created xsi:type="dcterms:W3CDTF">2021-05-24T15:42:45Z</dcterms:created>
  <dcterms:modified xsi:type="dcterms:W3CDTF">2026-06-28T20:23:25Z</dcterms:modified>
</cp:coreProperties>
</file>